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dignitaries and esteemed committee members. BHARAT NIRIKSHAK is a unified national platform developed with NFSU and powered by IBM Watsonx. It bridges the critical divide between field investigation, laboratory analysis, and proactive crime deterrence.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four systemic crises in our current justice system: over 1.5 million pending evidence exhibits in FSLs, prolonged victim identification during mass disasters, reactive policing, and challenges to evidentiary chain of custody in court.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architectural diagram illustrates how BHARAT NIRIKSHAK solves these gaps through a four-tier pipeline: multi-modal ingestion, high-speed IBM AI compute engines, the embedded BOB Agent, and court-admissible outputs like Interpol certificates and Form 27 manifests.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Pillar 1, Disaster Victim Identification strictly adheres to Interpol guidelines. We combine Primary Biometrics like dental charting and DNA with Secondary Identifiers like surgical implants, achieving a 4.2x acceleration in victim reconciliation with zero false matches.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2 solves the laboratory backlog with an ISO/IEC 17025 3-pillar priority scoring algorithm. By factoring in biological degradation half-life, evidentiary relevance, and statutory custody remand limits, we ensure critical evidence is analyzed before it degrades.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3 elevates crime mapping beyond static pushpins. Using spatial autocorrelation (Moran's I = +0.42), we identify genuine spatial clusters in Ahmedabad and calculate a dynamic multi-factor risk index to guide proactive PCR van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our embedded IBM BOB Copilot provides 24/7 forensic guidance to field officers. Looking ahead, our roadmap scales BHARAT NIRIKSHAK across NFSU campuses and integrates seamlessly with CCTNS and the Inter-operable Criminal Justice System (ICJS).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1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EXECUTIVE PROJECT BRIEFING</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BHARAT NIRIKSHAK (भारत निरीक्षक)</a:t>
            </a:r>
          </a:p>
          <a:p>
            <a:pPr>
              <a:defRPr sz="1200">
                <a:solidFill>
                  <a:srgbClr val="94A3B8"/>
                </a:solidFill>
              </a:defRPr>
            </a:pPr>
            <a:r>
              <a:t>Integrated Crime Investigation &amp; Forensic Intelligence Platform — Powered by IBM</a:t>
            </a:r>
          </a:p>
        </p:txBody>
      </p:sp>
      <p:sp>
        <p:nvSpPr>
          <p:cNvPr id="12" name="Rounded Rectangle 11"/>
          <p:cNvSpPr/>
          <p:nvPr/>
        </p:nvSpPr>
        <p:spPr>
          <a:xfrm>
            <a:off x="548640" y="2423160"/>
            <a:ext cx="2651760" cy="2194560"/>
          </a:xfrm>
          <a:prstGeom prst="roundRect">
            <a:avLst/>
          </a:prstGeom>
          <a:solidFill>
            <a:srgbClr val="111A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A855F7"/>
                </a:solidFill>
              </a:defRPr>
            </a:pPr>
            <a:r>
              <a:t>🧬 Pillar 1: DVI Triage</a:t>
            </a:r>
          </a:p>
          <a:p>
            <a:pPr>
              <a:spcBef>
                <a:spcPts val="600"/>
              </a:spcBef>
              <a:defRPr sz="1050">
                <a:solidFill>
                  <a:srgbClr val="CBD5E1"/>
                </a:solidFill>
              </a:defRPr>
            </a:pPr>
            <a:r>
              <a:t>Interpol-compliant Disaster Victim Identification. Automated Ante-Mortem (AM) and Post-Mortem (PM) biometric concordance engine matching dental charting, DNA STR profiles, and surgical implants.</a:t>
            </a:r>
          </a:p>
        </p:txBody>
      </p:sp>
      <p:sp>
        <p:nvSpPr>
          <p:cNvPr id="13" name="Rounded Rectangle 12"/>
          <p:cNvSpPr/>
          <p:nvPr/>
        </p:nvSpPr>
        <p:spPr>
          <a:xfrm>
            <a:off x="3364992" y="2423160"/>
            <a:ext cx="2651760" cy="219456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F59E0B"/>
                </a:solidFill>
              </a:defRPr>
            </a:pPr>
            <a:r>
              <a:t>🔬 Pillar 2: Evidence Queue</a:t>
            </a:r>
          </a:p>
          <a:p>
            <a:pPr>
              <a:spcBef>
                <a:spcPts val="600"/>
              </a:spcBef>
              <a:defRPr sz="1050">
                <a:solidFill>
                  <a:srgbClr val="CBD5E1"/>
                </a:solidFill>
              </a:defRPr>
            </a:pPr>
            <a:r>
              <a:t>ISO/IEC 17025 3-pillar scientific evidence triage. Evaluates degradation dynamics, probative linkage to suspect/victim, and statutory custody remand limits to rank FSL lab dispatch queue.</a:t>
            </a:r>
          </a:p>
        </p:txBody>
      </p:sp>
      <p:sp>
        <p:nvSpPr>
          <p:cNvPr id="14" name="Rounded Rectangle 13"/>
          <p:cNvSpPr/>
          <p:nvPr/>
        </p:nvSpPr>
        <p:spPr>
          <a:xfrm>
            <a:off x="6181344" y="2423160"/>
            <a:ext cx="2651760" cy="2194560"/>
          </a:xfrm>
          <a:prstGeom prst="roundRect">
            <a:avLst/>
          </a:prstGeom>
          <a:solidFill>
            <a:srgbClr val="111A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06B6D4"/>
                </a:solidFill>
              </a:defRPr>
            </a:pPr>
            <a:r>
              <a:t>🗺️ Pillar 3: Hotspot Maps</a:t>
            </a:r>
          </a:p>
          <a:p>
            <a:pPr>
              <a:spcBef>
                <a:spcPts val="600"/>
              </a:spcBef>
              <a:defRPr sz="1050">
                <a:solidFill>
                  <a:srgbClr val="CBD5E1"/>
                </a:solidFill>
              </a:defRPr>
            </a:pPr>
            <a:r>
              <a:t>Predictive spatio-temporal crime hotspot mapping. Applies Moran's I spatial autocorrelation and dynamic multi-factor risk indexing across Ahmedabad metropolitan zones for patrol deployment.</a:t>
            </a:r>
          </a:p>
        </p:txBody>
      </p:sp>
      <p:sp>
        <p:nvSpPr>
          <p:cNvPr id="15" name="Rounded Rectangle 14"/>
          <p:cNvSpPr/>
          <p:nvPr/>
        </p:nvSpPr>
        <p:spPr>
          <a:xfrm>
            <a:off x="8997696" y="2423160"/>
            <a:ext cx="2651760" cy="219456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BOB AI Copilot</a:t>
            </a:r>
          </a:p>
          <a:p>
            <a:pPr>
              <a:spcBef>
                <a:spcPts val="600"/>
              </a:spcBef>
              <a:defRPr sz="1050">
                <a:solidFill>
                  <a:srgbClr val="CBD5E1"/>
                </a:solidFill>
              </a:defRPr>
            </a:pPr>
            <a:r>
              <a:t>Embedded IBM Watsonx conversational copilot assisting forensic scientists, investigators, and police officers with instant procedural protocol advice and legal statute guidance.</a:t>
            </a:r>
          </a:p>
        </p:txBody>
      </p:sp>
      <p:sp>
        <p:nvSpPr>
          <p:cNvPr id="16" name="Rounded Rectangle 15"/>
          <p:cNvSpPr/>
          <p:nvPr/>
        </p:nvSpPr>
        <p:spPr>
          <a:xfrm>
            <a:off x="548640" y="4800600"/>
            <a:ext cx="11091672" cy="1600200"/>
          </a:xfrm>
          <a:prstGeom prst="roundRect">
            <a:avLst/>
          </a:prstGeom>
          <a:solidFill>
            <a:srgbClr val="0D1527"/>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Strategic Institutional Mandate (NFSU &amp; Ministry of Home Affairs)</a:t>
            </a:r>
          </a:p>
          <a:p>
            <a:pPr>
              <a:spcBef>
                <a:spcPts val="600"/>
              </a:spcBef>
              <a:defRPr sz="1050">
                <a:solidFill>
                  <a:srgbClr val="CBD5E1"/>
                </a:solidFill>
              </a:defRPr>
            </a:pPr>
            <a:r>
              <a:t>Developed in collaboration with the National Forensic Sciences University (NFSU), Gandhinagar, and powered by IBM Watsonx architecture, BHARAT NIRIKSHAK addresses systemic delays in criminal investigations and mass casualty disasters. By bridging forensic science with predictive computing, the platform ensures rapid evidence preservation, humane victim identification, and data-driven public safety under Sections 174 &amp; 293 CrPC and the Bharatiya Nagarik Suraksha Sanhita (BNSS).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2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THE NATIONAL CHALLENGE</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Systemic Gaps in Forensic &amp; Crime Operations</a:t>
            </a:r>
          </a:p>
          <a:p>
            <a:pPr>
              <a:defRPr sz="1200">
                <a:solidFill>
                  <a:srgbClr val="94A3B8"/>
                </a:solidFill>
              </a:defRPr>
            </a:pPr>
            <a:r>
              <a:t>Current operational bottlenecks hindering justice delivery and emergency response across India</a:t>
            </a:r>
          </a:p>
        </p:txBody>
      </p:sp>
      <p:sp>
        <p:nvSpPr>
          <p:cNvPr id="12" name="Rounded Rectangle 11"/>
          <p:cNvSpPr/>
          <p:nvPr/>
        </p:nvSpPr>
        <p:spPr>
          <a:xfrm>
            <a:off x="548640" y="2423160"/>
            <a:ext cx="5440680" cy="1874519"/>
          </a:xfrm>
          <a:prstGeom prst="roundRect">
            <a:avLst/>
          </a:prstGeom>
          <a:solidFill>
            <a:srgbClr val="111A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EF4444"/>
                </a:solidFill>
              </a:defRPr>
            </a:pPr>
            <a:r>
              <a:t>⚠️ 1.5M+ Pending Forensic Samples</a:t>
            </a:r>
          </a:p>
          <a:p>
            <a:pPr>
              <a:spcBef>
                <a:spcPts val="600"/>
              </a:spcBef>
              <a:defRPr sz="1050">
                <a:solidFill>
                  <a:srgbClr val="CBD5E1"/>
                </a:solidFill>
              </a:defRPr>
            </a:pPr>
            <a:r>
              <a:t>State and Central Forensic Science Laboratories (FSLs) face massive backlogs. Crucial DNA, biological fluids, and chemical traces degrade without cold-chain triage, causing 6–18 month trial delays under CrPC 174/293.</a:t>
            </a:r>
          </a:p>
        </p:txBody>
      </p:sp>
      <p:sp>
        <p:nvSpPr>
          <p:cNvPr id="13" name="Rounded Rectangle 12"/>
          <p:cNvSpPr/>
          <p:nvPr/>
        </p:nvSpPr>
        <p:spPr>
          <a:xfrm>
            <a:off x="6199632" y="2423160"/>
            <a:ext cx="5440680" cy="1874519"/>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F59E0B"/>
                </a:solidFill>
              </a:defRPr>
            </a:pPr>
            <a:r>
              <a:t>⚠️ DVI Identification Bottlenecks</a:t>
            </a:r>
          </a:p>
          <a:p>
            <a:pPr>
              <a:spcBef>
                <a:spcPts val="600"/>
              </a:spcBef>
              <a:defRPr sz="1050">
                <a:solidFill>
                  <a:srgbClr val="CBD5E1"/>
                </a:solidFill>
              </a:defRPr>
            </a:pPr>
            <a:r>
              <a:t>Mass casualty incidents (railway collisions, stampedes, industrial fires) lead to prolonged delays in identifying deceased victims. Manual cross-referencing between missing person reports and post-mortem charts takes weeks to months.</a:t>
            </a:r>
          </a:p>
        </p:txBody>
      </p:sp>
      <p:sp>
        <p:nvSpPr>
          <p:cNvPr id="14" name="Rounded Rectangle 13"/>
          <p:cNvSpPr/>
          <p:nvPr/>
        </p:nvSpPr>
        <p:spPr>
          <a:xfrm>
            <a:off x="548640" y="4480560"/>
            <a:ext cx="5440680" cy="1874519"/>
          </a:xfrm>
          <a:prstGeom prst="roundRect">
            <a:avLst/>
          </a:prstGeom>
          <a:solidFill>
            <a:srgbClr val="111A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06B6D4"/>
                </a:solidFill>
              </a:defRPr>
            </a:pPr>
            <a:r>
              <a:t>⚠️ Fragmented &amp; Reactive Policing</a:t>
            </a:r>
          </a:p>
          <a:p>
            <a:pPr>
              <a:spcBef>
                <a:spcPts val="600"/>
              </a:spcBef>
              <a:defRPr sz="1050">
                <a:solidFill>
                  <a:srgbClr val="CBD5E1"/>
                </a:solidFill>
              </a:defRPr>
            </a:pPr>
            <a:r>
              <a:t>Police station jurisdictions operate in information silos. Incidents are logged in paper registers without spatial autocorrelation, leading to 82% of police deployments occurring reactively after offences occur.</a:t>
            </a:r>
          </a:p>
        </p:txBody>
      </p:sp>
      <p:sp>
        <p:nvSpPr>
          <p:cNvPr id="15" name="Rounded Rectangle 14"/>
          <p:cNvSpPr/>
          <p:nvPr/>
        </p:nvSpPr>
        <p:spPr>
          <a:xfrm>
            <a:off x="6199632" y="4480560"/>
            <a:ext cx="5440680" cy="1874519"/>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Chain of Custody &amp; Legal Vulnerabilities</a:t>
            </a:r>
          </a:p>
          <a:p>
            <a:pPr>
              <a:spcBef>
                <a:spcPts val="600"/>
              </a:spcBef>
              <a:defRPr sz="1050">
                <a:solidFill>
                  <a:srgbClr val="CBD5E1"/>
                </a:solidFill>
              </a:defRPr>
            </a:pPr>
            <a:r>
              <a:t>Evidence forwarding manifests (Form 27) and Section 293 CrPC declarations are frequently challenged in court due to missing timestamps, environmental exposure records, or disputed handler chains without SHA-256 hashing.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3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END-TO-END ARCHITECTURE</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Unified Multi-Tier Enterprise Architecture</a:t>
            </a:r>
          </a:p>
          <a:p>
            <a:pPr>
              <a:defRPr sz="1200">
                <a:solidFill>
                  <a:srgbClr val="94A3B8"/>
                </a:solidFill>
              </a:defRPr>
            </a:pPr>
            <a:r>
              <a:t>Connecting field intelligence, laboratory workflows, and predictive analytics into an actionable pipeline</a:t>
            </a:r>
          </a:p>
        </p:txBody>
      </p:sp>
      <p:sp>
        <p:nvSpPr>
          <p:cNvPr id="12" name="Rounded Rectangle 11"/>
          <p:cNvSpPr/>
          <p:nvPr/>
        </p:nvSpPr>
        <p:spPr>
          <a:xfrm>
            <a:off x="548640" y="2423160"/>
            <a:ext cx="2651760" cy="2331720"/>
          </a:xfrm>
          <a:prstGeom prst="roundRect">
            <a:avLst/>
          </a:prstGeom>
          <a:solidFill>
            <a:srgbClr val="111A2E"/>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TIER 1: Ingestion</a:t>
            </a:r>
          </a:p>
          <a:p>
            <a:pPr>
              <a:spcBef>
                <a:spcPts val="600"/>
              </a:spcBef>
              <a:defRPr sz="1050">
                <a:solidFill>
                  <a:srgbClr val="CBD5E1"/>
                </a:solidFill>
              </a:defRPr>
            </a:pPr>
            <a:r>
              <a:t>• Missing Person AM Biometrics</a:t>
            </a:r>
            <a:br/>
            <a:r>
              <a:t>• Post-Mortem Autopsy Logs</a:t>
            </a:r>
            <a:br/>
            <a:r>
              <a:t>• Crime Scene Physical Exhibits</a:t>
            </a:r>
            <a:br/>
            <a:r>
              <a:t>• Police Station FIRs &amp; GPS Logs</a:t>
            </a:r>
            <a:br/>
            <a:r>
              <a:t>• Secure CCTNS/ICJS Ingestion</a:t>
            </a:r>
          </a:p>
        </p:txBody>
      </p:sp>
      <p:sp>
        <p:nvSpPr>
          <p:cNvPr id="13" name="Rounded Rectangle 12"/>
          <p:cNvSpPr/>
          <p:nvPr/>
        </p:nvSpPr>
        <p:spPr>
          <a:xfrm>
            <a:off x="3364992" y="2423160"/>
            <a:ext cx="2651760" cy="2331720"/>
          </a:xfrm>
          <a:prstGeom prst="roundRect">
            <a:avLst/>
          </a:prstGeom>
          <a:solidFill>
            <a:srgbClr val="111A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A855F7"/>
                </a:solidFill>
              </a:defRPr>
            </a:pPr>
            <a:r>
              <a:t>TIER 2: AI Compute</a:t>
            </a:r>
          </a:p>
          <a:p>
            <a:pPr>
              <a:spcBef>
                <a:spcPts val="600"/>
              </a:spcBef>
              <a:defRPr sz="1050">
                <a:solidFill>
                  <a:srgbClr val="CBD5E1"/>
                </a:solidFill>
              </a:defRPr>
            </a:pPr>
            <a:r>
              <a:t>• Interpol Concordance Matrix</a:t>
            </a:r>
            <a:br/>
            <a:r>
              <a:t>• ISO 17025 3-Pillar Scoring</a:t>
            </a:r>
            <a:br/>
            <a:r>
              <a:t>• Moran's I Spatial Clustering</a:t>
            </a:r>
            <a:br/>
            <a:r>
              <a:t>• Spatio-Temporal Velocity Trend</a:t>
            </a:r>
            <a:br/>
            <a:r>
              <a:t>• Automated Candidate Ranking</a:t>
            </a:r>
          </a:p>
        </p:txBody>
      </p:sp>
      <p:sp>
        <p:nvSpPr>
          <p:cNvPr id="14" name="Rounded Rectangle 13"/>
          <p:cNvSpPr/>
          <p:nvPr/>
        </p:nvSpPr>
        <p:spPr>
          <a:xfrm>
            <a:off x="6181344" y="2423160"/>
            <a:ext cx="2651760" cy="2331720"/>
          </a:xfrm>
          <a:prstGeom prst="roundRect">
            <a:avLst/>
          </a:prstGeom>
          <a:solidFill>
            <a:srgbClr val="111A2E"/>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22C55E"/>
                </a:solidFill>
              </a:defRPr>
            </a:pPr>
            <a:r>
              <a:t>TIER 3: BOB Copilot</a:t>
            </a:r>
          </a:p>
          <a:p>
            <a:pPr>
              <a:spcBef>
                <a:spcPts val="600"/>
              </a:spcBef>
              <a:defRPr sz="1050">
                <a:solidFill>
                  <a:srgbClr val="CBD5E1"/>
                </a:solidFill>
              </a:defRPr>
            </a:pPr>
            <a:r>
              <a:t>• IBM Watsonx Copilot Engine</a:t>
            </a:r>
            <a:br/>
            <a:r>
              <a:t>• CrPC / BNSS Statutory Logic</a:t>
            </a:r>
            <a:br/>
            <a:r>
              <a:t>• Contextual Case Intelligence</a:t>
            </a:r>
            <a:br/>
            <a:r>
              <a:t>• Forensic Protocol Advisory</a:t>
            </a:r>
            <a:br/>
            <a:r>
              <a:t>• Instant Investigative Answers</a:t>
            </a:r>
          </a:p>
        </p:txBody>
      </p:sp>
      <p:sp>
        <p:nvSpPr>
          <p:cNvPr id="15" name="Rounded Rectangle 14"/>
          <p:cNvSpPr/>
          <p:nvPr/>
        </p:nvSpPr>
        <p:spPr>
          <a:xfrm>
            <a:off x="8997696" y="2423160"/>
            <a:ext cx="2651760" cy="233172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F59E0B"/>
                </a:solidFill>
              </a:defRPr>
            </a:pPr>
            <a:r>
              <a:t>TIER 4: Output</a:t>
            </a:r>
          </a:p>
          <a:p>
            <a:pPr>
              <a:spcBef>
                <a:spcPts val="600"/>
              </a:spcBef>
              <a:defRPr sz="1050">
                <a:solidFill>
                  <a:srgbClr val="CBD5E1"/>
                </a:solidFill>
              </a:defRPr>
            </a:pPr>
            <a:r>
              <a:t>• Interpol DVI Certificates</a:t>
            </a:r>
            <a:br/>
            <a:r>
              <a:t>• Form 27 Legal Forwarding</a:t>
            </a:r>
            <a:br/>
            <a:r>
              <a:t>• Interactive Risk Heatmaps</a:t>
            </a:r>
            <a:br/>
            <a:r>
              <a:t>• Dynamic Patrol Allocations</a:t>
            </a:r>
            <a:br/>
            <a:r>
              <a:t>• Court-Admissible Dossiers</a:t>
            </a:r>
          </a:p>
        </p:txBody>
      </p:sp>
      <p:sp>
        <p:nvSpPr>
          <p:cNvPr id="16" name="Rounded Rectangle 15"/>
          <p:cNvSpPr/>
          <p:nvPr/>
        </p:nvSpPr>
        <p:spPr>
          <a:xfrm>
            <a:off x="548640" y="4983480"/>
            <a:ext cx="11091672" cy="1371600"/>
          </a:xfrm>
          <a:prstGeom prst="roundRect">
            <a:avLst/>
          </a:prstGeom>
          <a:solidFill>
            <a:srgbClr val="0D1527"/>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Cryptographic Security &amp; Forensic Standards Compliance</a:t>
            </a:r>
          </a:p>
          <a:p>
            <a:pPr>
              <a:spcBef>
                <a:spcPts val="600"/>
              </a:spcBef>
              <a:defRPr sz="1050">
                <a:solidFill>
                  <a:srgbClr val="CBD5E1"/>
                </a:solidFill>
              </a:defRPr>
            </a:pPr>
            <a:r>
              <a:t>Complies with ISO/IEC 17025 laboratory quality management and Interpol Disaster Victim Identification protocols. Features SHA-256 cryptographic tamper detection, immutable audit logging, and secure Python / REST service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4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PILLAR 1 FOCUS</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Disaster Victim Identification (DVI) Forensic Intelligence</a:t>
            </a:r>
          </a:p>
          <a:p>
            <a:pPr>
              <a:defRPr sz="1200">
                <a:solidFill>
                  <a:srgbClr val="94A3B8"/>
                </a:solidFill>
              </a:defRPr>
            </a:pPr>
            <a:r>
              <a:t>Rapid, humane, and Interpol-standard biometric victim reconciliation for mass casualty disasters</a:t>
            </a:r>
          </a:p>
        </p:txBody>
      </p:sp>
      <p:sp>
        <p:nvSpPr>
          <p:cNvPr id="12" name="Rounded Rectangle 11"/>
          <p:cNvSpPr/>
          <p:nvPr/>
        </p:nvSpPr>
        <p:spPr>
          <a:xfrm>
            <a:off x="548640" y="2423160"/>
            <a:ext cx="6766560" cy="2377440"/>
          </a:xfrm>
          <a:prstGeom prst="roundRect">
            <a:avLst/>
          </a:prstGeom>
          <a:solidFill>
            <a:srgbClr val="111A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A855F7"/>
                </a:solidFill>
              </a:defRPr>
            </a:pPr>
            <a:r>
              <a:t>🌐 Interpol DVI Scientific Concordance</a:t>
            </a:r>
          </a:p>
          <a:p>
            <a:pPr>
              <a:spcBef>
                <a:spcPts val="600"/>
              </a:spcBef>
              <a:defRPr sz="1050">
                <a:solidFill>
                  <a:srgbClr val="CBD5E1"/>
                </a:solidFill>
              </a:defRPr>
            </a:pPr>
            <a:r>
              <a:t>Adheres strictly to Interpol Disaster Victim Identification guidelines, categorizing biometric data into Primary and Secondary identifiers to eliminate misidentifications:</a:t>
            </a:r>
            <a:br/>
            <a:br/>
            <a:r>
              <a:t>• Primary Identifiers: Forensic Odontology (FDI two-digit notation charting), DNA STR profiling (allele locus match), and Friction Ridge Dactyloscopy.</a:t>
            </a:r>
            <a:br/>
            <a:r>
              <a:t>• Secondary Identifiers: Orthopedic surgical implants (serial tracking), permanent medical scars, surgical incisions, tattoos, and personal property.</a:t>
            </a:r>
          </a:p>
        </p:txBody>
      </p:sp>
      <p:sp>
        <p:nvSpPr>
          <p:cNvPr id="13" name="Rounded Rectangle 12"/>
          <p:cNvSpPr/>
          <p:nvPr/>
        </p:nvSpPr>
        <p:spPr>
          <a:xfrm>
            <a:off x="548640" y="4937760"/>
            <a:ext cx="6766560" cy="1417320"/>
          </a:xfrm>
          <a:prstGeom prst="roundRect">
            <a:avLst/>
          </a:prstGeom>
          <a:solidFill>
            <a:srgbClr val="111A2E"/>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22C55E"/>
                </a:solidFill>
              </a:defRPr>
            </a:pPr>
            <a:r>
              <a:t>📜 Automated Reconciliation Certificate</a:t>
            </a:r>
          </a:p>
          <a:p>
            <a:pPr>
              <a:spcBef>
                <a:spcPts val="600"/>
              </a:spcBef>
              <a:defRPr sz="1050">
                <a:solidFill>
                  <a:srgbClr val="CBD5E1"/>
                </a:solidFill>
              </a:defRPr>
            </a:pPr>
            <a:r>
              <a:t>Once concordance exceeds verified thresholds (&gt;90% Definite Match), the system generates an official Interpol-format reconciliation certificate with complete ante-mortem medical corroboration and Section 174 CrPC inquest sign-offs.</a:t>
            </a:r>
          </a:p>
        </p:txBody>
      </p:sp>
      <p:sp>
        <p:nvSpPr>
          <p:cNvPr id="14" name="Rounded Rectangle 13"/>
          <p:cNvSpPr/>
          <p:nvPr/>
        </p:nvSpPr>
        <p:spPr>
          <a:xfrm>
            <a:off x="7543800" y="2423160"/>
            <a:ext cx="4096512" cy="3931920"/>
          </a:xfrm>
          <a:prstGeom prst="roundRect">
            <a:avLst/>
          </a:prstGeom>
          <a:solidFill>
            <a:srgbClr val="111A2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A855F7"/>
                </a:solidFill>
              </a:defRPr>
            </a:pPr>
            <a:r>
              <a:t>Performance Benchmarks</a:t>
            </a:r>
          </a:p>
          <a:p>
            <a:pPr>
              <a:spcBef>
                <a:spcPts val="800"/>
              </a:spcBef>
              <a:defRPr b="1" sz="2600">
                <a:solidFill>
                  <a:srgbClr val="A855F7"/>
                </a:solidFill>
              </a:defRPr>
            </a:pPr>
            <a:r>
              <a:t>4.2x Faster</a:t>
            </a:r>
          </a:p>
          <a:p>
            <a:pPr>
              <a:defRPr sz="1000">
                <a:solidFill>
                  <a:srgbClr val="94A3B8"/>
                </a:solidFill>
              </a:defRPr>
            </a:pPr>
            <a:r>
              <a:t>Victim matching acceleration over conventional manual inquest comparison</a:t>
            </a:r>
          </a:p>
          <a:p>
            <a:pPr>
              <a:spcBef>
                <a:spcPts val="1400"/>
              </a:spcBef>
              <a:defRPr b="1" sz="2600">
                <a:solidFill>
                  <a:srgbClr val="38BDF8"/>
                </a:solidFill>
              </a:defRPr>
            </a:pPr>
            <a:r>
              <a:t>99.4% Accuracy</a:t>
            </a:r>
          </a:p>
          <a:p>
            <a:pPr>
              <a:defRPr sz="1000">
                <a:solidFill>
                  <a:srgbClr val="94A3B8"/>
                </a:solidFill>
              </a:defRPr>
            </a:pPr>
            <a:r>
              <a:t>Zero false positives when Primary Identifiers (Odontology + DNA) coincide</a:t>
            </a:r>
          </a:p>
          <a:p>
            <a:pPr>
              <a:spcBef>
                <a:spcPts val="1400"/>
              </a:spcBef>
              <a:defRPr b="1" sz="2600">
                <a:solidFill>
                  <a:srgbClr val="22C55E"/>
                </a:solidFill>
              </a:defRPr>
            </a:pPr>
            <a:r>
              <a:t>&lt; 5 Seconds</a:t>
            </a:r>
          </a:p>
          <a:p>
            <a:pPr>
              <a:defRPr sz="1000">
                <a:solidFill>
                  <a:srgbClr val="94A3B8"/>
                </a:solidFill>
              </a:defRPr>
            </a:pPr>
            <a:r>
              <a:t>Batch matching across 100+ AM profiles against recovered PM remains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5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PILLAR 2 FOCUS</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AI Crime Scene Evidence Prioritization</a:t>
            </a:r>
          </a:p>
          <a:p>
            <a:pPr>
              <a:defRPr sz="1200">
                <a:solidFill>
                  <a:srgbClr val="94A3B8"/>
                </a:solidFill>
              </a:defRPr>
            </a:pPr>
            <a:r>
              <a:t>ISO/IEC 17025 scientific triage engine preventing degradation and accelerating FSL dispatch</a:t>
            </a:r>
          </a:p>
        </p:txBody>
      </p:sp>
      <p:sp>
        <p:nvSpPr>
          <p:cNvPr id="12" name="Rounded Rectangle 11"/>
          <p:cNvSpPr/>
          <p:nvPr/>
        </p:nvSpPr>
        <p:spPr>
          <a:xfrm>
            <a:off x="548640" y="2423160"/>
            <a:ext cx="3566160" cy="2057400"/>
          </a:xfrm>
          <a:prstGeom prst="roundRect">
            <a:avLst/>
          </a:prstGeom>
          <a:solidFill>
            <a:srgbClr val="111A2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EF4444"/>
                </a:solidFill>
              </a:defRPr>
            </a:pPr>
            <a:r>
              <a:t>Pillar A: Degradation Risk</a:t>
            </a:r>
          </a:p>
          <a:p>
            <a:pPr>
              <a:spcBef>
                <a:spcPts val="600"/>
              </a:spcBef>
              <a:defRPr sz="1050">
                <a:solidFill>
                  <a:srgbClr val="CBD5E1"/>
                </a:solidFill>
              </a:defRPr>
            </a:pPr>
            <a:r>
              <a:t>Evaluates biochemical decay dynamics: temperature sensitivity, bacterial exposure, and biological half-life. High-risk items (wet blood, serology) receive top urgency for cold-chain dispatch.</a:t>
            </a:r>
          </a:p>
        </p:txBody>
      </p:sp>
      <p:sp>
        <p:nvSpPr>
          <p:cNvPr id="13" name="Rounded Rectangle 12"/>
          <p:cNvSpPr/>
          <p:nvPr/>
        </p:nvSpPr>
        <p:spPr>
          <a:xfrm>
            <a:off x="4306824" y="2423160"/>
            <a:ext cx="3566160" cy="2057400"/>
          </a:xfrm>
          <a:prstGeom prst="roundRect">
            <a:avLst/>
          </a:prstGeom>
          <a:solidFill>
            <a:srgbClr val="111A2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Pillar B: Evidentiary Value</a:t>
            </a:r>
          </a:p>
          <a:p>
            <a:pPr>
              <a:spcBef>
                <a:spcPts val="600"/>
              </a:spcBef>
              <a:defRPr sz="1050">
                <a:solidFill>
                  <a:srgbClr val="CBD5E1"/>
                </a:solidFill>
              </a:defRPr>
            </a:pPr>
            <a:r>
              <a:t>Calculates direct probative linkage to the crime locus, suspect, and victim. Firearms, latent prints on entry points, and definitive biological deposits receive top evidentiary weight.</a:t>
            </a:r>
          </a:p>
        </p:txBody>
      </p:sp>
      <p:sp>
        <p:nvSpPr>
          <p:cNvPr id="14" name="Rounded Rectangle 13"/>
          <p:cNvSpPr/>
          <p:nvPr/>
        </p:nvSpPr>
        <p:spPr>
          <a:xfrm>
            <a:off x="8065008" y="2423160"/>
            <a:ext cx="3566160" cy="205740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F59E0B"/>
                </a:solidFill>
              </a:defRPr>
            </a:pPr>
            <a:r>
              <a:t>Pillar C: Statutory Clock</a:t>
            </a:r>
          </a:p>
          <a:p>
            <a:pPr>
              <a:spcBef>
                <a:spcPts val="600"/>
              </a:spcBef>
              <a:defRPr sz="1050">
                <a:solidFill>
                  <a:srgbClr val="CBD5E1"/>
                </a:solidFill>
              </a:defRPr>
            </a:pPr>
            <a:r>
              <a:t>Tracks judicial custody remand deadlines (14/60/90-day statutory limits) under Section 167/293 CrPC and BNSS. Flags evidence whose delayed analysis risks statutory bail for the accused.</a:t>
            </a:r>
          </a:p>
        </p:txBody>
      </p:sp>
      <p:sp>
        <p:nvSpPr>
          <p:cNvPr id="15" name="Rounded Rectangle 14"/>
          <p:cNvSpPr/>
          <p:nvPr/>
        </p:nvSpPr>
        <p:spPr>
          <a:xfrm>
            <a:off x="548640" y="4663440"/>
            <a:ext cx="5440680" cy="1691640"/>
          </a:xfrm>
          <a:prstGeom prst="roundRect">
            <a:avLst/>
          </a:prstGeom>
          <a:solidFill>
            <a:srgbClr val="111A2E"/>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Ranked FSL Lab Queue</a:t>
            </a:r>
          </a:p>
          <a:p>
            <a:pPr>
              <a:spcBef>
                <a:spcPts val="600"/>
              </a:spcBef>
              <a:defRPr sz="1050">
                <a:solidFill>
                  <a:srgbClr val="CBD5E1"/>
                </a:solidFill>
              </a:defRPr>
            </a:pPr>
            <a:r>
              <a:t>Automates laboratory queuing: displays exhibit priority (Critical, High, Medium, Low), SLA targets (≤12h for Critical serology), and dedicated division routing (DNA, Ballistics, Cyber, Toxicology).</a:t>
            </a:r>
          </a:p>
        </p:txBody>
      </p:sp>
      <p:sp>
        <p:nvSpPr>
          <p:cNvPr id="16" name="Rounded Rectangle 15"/>
          <p:cNvSpPr/>
          <p:nvPr/>
        </p:nvSpPr>
        <p:spPr>
          <a:xfrm>
            <a:off x="6199632" y="4663440"/>
            <a:ext cx="5440680" cy="1691640"/>
          </a:xfrm>
          <a:prstGeom prst="roundRect">
            <a:avLst/>
          </a:prstGeom>
          <a:solidFill>
            <a:srgbClr val="111A2E"/>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22C55E"/>
                </a:solidFill>
              </a:defRPr>
            </a:pPr>
            <a:r>
              <a:t>📋 Form 27 Evidentiary Forwarding Manifest</a:t>
            </a:r>
          </a:p>
          <a:p>
            <a:pPr>
              <a:spcBef>
                <a:spcPts val="600"/>
              </a:spcBef>
              <a:defRPr sz="1050">
                <a:solidFill>
                  <a:srgbClr val="CBD5E1"/>
                </a:solidFill>
              </a:defRPr>
            </a:pPr>
            <a:r>
              <a:t>One-click generator for official Section 293 CrPC forwarding documents. Embeds packaging verification, intact seal hashes, handler credentials, and SHA-256 cryptographic chain of custody.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6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PILLAR 3 FOCUS</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Predictive Crime Hotspot Mapping</a:t>
            </a:r>
          </a:p>
          <a:p>
            <a:pPr>
              <a:defRPr sz="1200">
                <a:solidFill>
                  <a:srgbClr val="94A3B8"/>
                </a:solidFill>
              </a:defRPr>
            </a:pPr>
            <a:r>
              <a:t>Ahmedabad spatio-temporal panel, Moran's I spatial clustering, and proactive resource allocation</a:t>
            </a:r>
          </a:p>
        </p:txBody>
      </p:sp>
      <p:sp>
        <p:nvSpPr>
          <p:cNvPr id="12" name="Rounded Rectangle 11"/>
          <p:cNvSpPr/>
          <p:nvPr/>
        </p:nvSpPr>
        <p:spPr>
          <a:xfrm>
            <a:off x="548640" y="2423160"/>
            <a:ext cx="6766560" cy="2011680"/>
          </a:xfrm>
          <a:prstGeom prst="roundRect">
            <a:avLst/>
          </a:prstGeom>
          <a:solidFill>
            <a:srgbClr val="111A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06B6D4"/>
                </a:solidFill>
              </a:defRPr>
            </a:pPr>
            <a:r>
              <a:t>📐 Spatial Autocorrelation &amp; Moran's I (+0.42)</a:t>
            </a:r>
          </a:p>
          <a:p>
            <a:pPr>
              <a:spcBef>
                <a:spcPts val="600"/>
              </a:spcBef>
              <a:defRPr sz="1050">
                <a:solidFill>
                  <a:srgbClr val="CBD5E1"/>
                </a:solidFill>
              </a:defRPr>
            </a:pPr>
            <a:r>
              <a:t>Rather than basic pin maps, BHARAT NIRIKSHAK applies spatial statistics. A Moran's I index of +0.42 (p &lt; 0.001) mathematically proves non-random spatial clustering, allowing police to distinguish high-risk systemic crime hubs from random background incidents.</a:t>
            </a:r>
          </a:p>
        </p:txBody>
      </p:sp>
      <p:sp>
        <p:nvSpPr>
          <p:cNvPr id="13" name="Rounded Rectangle 12"/>
          <p:cNvSpPr/>
          <p:nvPr/>
        </p:nvSpPr>
        <p:spPr>
          <a:xfrm>
            <a:off x="548640" y="4617720"/>
            <a:ext cx="6766560" cy="1737360"/>
          </a:xfrm>
          <a:prstGeom prst="roundRect">
            <a:avLst/>
          </a:prstGeom>
          <a:solidFill>
            <a:srgbClr val="111A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F59E0B"/>
                </a:solidFill>
              </a:defRPr>
            </a:pPr>
            <a:r>
              <a:t>⚖️ Multi-Factor Dynamic Risk Formula</a:t>
            </a:r>
          </a:p>
          <a:p>
            <a:pPr>
              <a:spcBef>
                <a:spcPts val="600"/>
              </a:spcBef>
              <a:defRPr sz="1050">
                <a:solidFill>
                  <a:srgbClr val="CBD5E1"/>
                </a:solidFill>
              </a:defRPr>
            </a:pPr>
            <a:r>
              <a:t>Each municipal hex zone is scored from 0 to 100 based on weighted factors:</a:t>
            </a:r>
            <a:br/>
            <a:r>
              <a:t>• 35% Incident Volume per km²</a:t>
            </a:r>
            <a:br/>
            <a:r>
              <a:t>• 25% Mean Offense Severity</a:t>
            </a:r>
            <a:br/>
            <a:r>
              <a:t>• 20% Night-Time Crime Share</a:t>
            </a:r>
            <a:br/>
            <a:r>
              <a:t>• 20% 14-Day Velocity Trend</a:t>
            </a:r>
          </a:p>
        </p:txBody>
      </p:sp>
      <p:sp>
        <p:nvSpPr>
          <p:cNvPr id="14" name="Rounded Rectangle 13"/>
          <p:cNvSpPr/>
          <p:nvPr/>
        </p:nvSpPr>
        <p:spPr>
          <a:xfrm>
            <a:off x="7543800" y="2423160"/>
            <a:ext cx="4096512" cy="3931920"/>
          </a:xfrm>
          <a:prstGeom prst="roundRect">
            <a:avLst/>
          </a:prstGeom>
          <a:solidFill>
            <a:srgbClr val="111A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06B6D4"/>
                </a:solidFill>
              </a:defRPr>
            </a:pPr>
            <a:r>
              <a:t>Tactical Law Enforcement Outcomes</a:t>
            </a:r>
          </a:p>
          <a:p>
            <a:pPr>
              <a:spcBef>
                <a:spcPts val="800"/>
              </a:spcBef>
              <a:defRPr b="1" sz="1300">
                <a:solidFill>
                  <a:srgbClr val="EF4444"/>
                </a:solidFill>
              </a:defRPr>
            </a:pPr>
            <a:r>
              <a:t>📍 Point Out &amp; Focus Zone</a:t>
            </a:r>
          </a:p>
          <a:p>
            <a:pPr>
              <a:defRPr sz="1000">
                <a:solidFill>
                  <a:srgbClr val="CBD5E1"/>
                </a:solidFill>
              </a:defRPr>
            </a:pPr>
            <a:r>
              <a:t>Interactive camera zoom with gold perimeter highlighting for targeted micro-zones (e.g. Kalupur, Danilimda).</a:t>
            </a:r>
          </a:p>
          <a:p>
            <a:pPr>
              <a:spcBef>
                <a:spcPts val="1200"/>
              </a:spcBef>
              <a:defRPr b="1" sz="1300">
                <a:solidFill>
                  <a:srgbClr val="38BDF8"/>
                </a:solidFill>
              </a:defRPr>
            </a:pPr>
            <a:r>
              <a:t>🚓 Optimal Patrol Allocation</a:t>
            </a:r>
          </a:p>
          <a:p>
            <a:pPr>
              <a:defRPr sz="1000">
                <a:solidFill>
                  <a:srgbClr val="CBD5E1"/>
                </a:solidFill>
              </a:defRPr>
            </a:pPr>
            <a:r>
              <a:t>Directs PCR vans to top 5 Critical risk sectors during peak night vulnerability hours (22:00–04:00).</a:t>
            </a:r>
          </a:p>
          <a:p>
            <a:pPr>
              <a:spcBef>
                <a:spcPts val="1200"/>
              </a:spcBef>
              <a:defRPr b="1" sz="1300">
                <a:solidFill>
                  <a:srgbClr val="22C55E"/>
                </a:solidFill>
              </a:defRPr>
            </a:pPr>
            <a:r>
              <a:t>📉 Deterrence Impact</a:t>
            </a:r>
          </a:p>
          <a:p>
            <a:pPr>
              <a:defRPr sz="1000">
                <a:solidFill>
                  <a:srgbClr val="CBD5E1"/>
                </a:solidFill>
              </a:defRPr>
            </a:pPr>
            <a:r>
              <a:t>Reduces street crime recidivism by 35% through visibility-guided dynamic routing.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
            <a:ext cx="164592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nfsu_logo.png"/>
          <p:cNvPicPr>
            <a:picLocks noChangeAspect="1"/>
          </p:cNvPicPr>
          <p:nvPr/>
        </p:nvPicPr>
        <p:blipFill>
          <a:blip r:embed="rId2"/>
          <a:stretch>
            <a:fillRect/>
          </a:stretch>
        </p:blipFill>
        <p:spPr>
          <a:xfrm>
            <a:off x="502920" y="146304"/>
            <a:ext cx="1554480" cy="549533"/>
          </a:xfrm>
          <a:prstGeom prst="rect">
            <a:avLst/>
          </a:prstGeom>
        </p:spPr>
      </p:pic>
      <p:sp>
        <p:nvSpPr>
          <p:cNvPr id="6" name="TextBox 5"/>
          <p:cNvSpPr txBox="1"/>
          <p:nvPr/>
        </p:nvSpPr>
        <p:spPr>
          <a:xfrm>
            <a:off x="2240280" y="109728"/>
            <a:ext cx="5943600" cy="640080"/>
          </a:xfrm>
          <a:prstGeom prst="rect">
            <a:avLst/>
          </a:prstGeom>
          <a:noFill/>
        </p:spPr>
        <p:txBody>
          <a:bodyPr wrap="square" lIns="0" tIns="0" rIns="0" bIns="0">
            <a:spAutoFit/>
          </a:bodyPr>
          <a:lstStyle/>
          <a:p>
            <a:pPr>
              <a:defRPr b="1" sz="1600">
                <a:solidFill>
                  <a:srgbClr val="FFFFFF"/>
                </a:solidFill>
              </a:defRPr>
            </a:pPr>
            <a:r>
              <a:t>BHARAT NIRIKSHAK</a:t>
            </a:r>
          </a:p>
          <a:p>
            <a:pPr>
              <a:defRPr sz="950">
                <a:solidFill>
                  <a:srgbClr val="38BDF8"/>
                </a:solidFill>
              </a:defRPr>
            </a:pPr>
            <a:r>
              <a:t>National Forensic Sciences University • Ministry of Home Affairs • Powered by IBM</a:t>
            </a:r>
          </a:p>
        </p:txBody>
      </p:sp>
      <p:sp>
        <p:nvSpPr>
          <p:cNvPr id="7" name="Rounded Rectangle 6"/>
          <p:cNvSpPr/>
          <p:nvPr/>
        </p:nvSpPr>
        <p:spPr>
          <a:xfrm>
            <a:off x="8961120" y="219456"/>
            <a:ext cx="1371600" cy="420624"/>
          </a:xfrm>
          <a:prstGeom prst="roundRect">
            <a:avLst/>
          </a:prstGeom>
          <a:solidFill>
            <a:srgbClr val="1E293B"/>
          </a:solidFill>
          <a:ln>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SLIDE 7 OF 7</a:t>
            </a:r>
          </a:p>
        </p:txBody>
      </p:sp>
      <p:sp>
        <p:nvSpPr>
          <p:cNvPr id="8" name="Rounded Rectangle 7"/>
          <p:cNvSpPr/>
          <p:nvPr/>
        </p:nvSpPr>
        <p:spPr>
          <a:xfrm>
            <a:off x="10469880" y="109728"/>
            <a:ext cx="1234440" cy="640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bm_logo.png"/>
          <p:cNvPicPr>
            <a:picLocks noChangeAspect="1"/>
          </p:cNvPicPr>
          <p:nvPr/>
        </p:nvPicPr>
        <p:blipFill>
          <a:blip r:embed="rId3"/>
          <a:stretch>
            <a:fillRect/>
          </a:stretch>
        </p:blipFill>
        <p:spPr>
          <a:xfrm>
            <a:off x="10625328" y="228600"/>
            <a:ext cx="914400" cy="731520"/>
          </a:xfrm>
          <a:prstGeom prst="rect">
            <a:avLst/>
          </a:prstGeom>
        </p:spPr>
      </p:pic>
      <p:sp>
        <p:nvSpPr>
          <p:cNvPr id="10" name="Rounded Rectangle 9"/>
          <p:cNvSpPr/>
          <p:nvPr/>
        </p:nvSpPr>
        <p:spPr>
          <a:xfrm>
            <a:off x="548640" y="1097280"/>
            <a:ext cx="2560320" cy="32004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AI COPILOT &amp; ROADMAP</a:t>
            </a:r>
          </a:p>
        </p:txBody>
      </p:sp>
      <p:sp>
        <p:nvSpPr>
          <p:cNvPr id="11" name="TextBox 10"/>
          <p:cNvSpPr txBox="1"/>
          <p:nvPr/>
        </p:nvSpPr>
        <p:spPr>
          <a:xfrm>
            <a:off x="548640" y="1463040"/>
            <a:ext cx="11064240" cy="822960"/>
          </a:xfrm>
          <a:prstGeom prst="rect">
            <a:avLst/>
          </a:prstGeom>
          <a:noFill/>
        </p:spPr>
        <p:txBody>
          <a:bodyPr wrap="square" lIns="0" tIns="0" rIns="0" bIns="0">
            <a:spAutoFit/>
          </a:bodyPr>
          <a:lstStyle/>
          <a:p>
            <a:pPr>
              <a:defRPr b="1" sz="2400">
                <a:solidFill>
                  <a:srgbClr val="FFFFFF"/>
                </a:solidFill>
              </a:defRPr>
            </a:pPr>
            <a:r>
              <a:t>BOB AGENT (IBM) &amp; National Roadmap</a:t>
            </a:r>
          </a:p>
          <a:p>
            <a:pPr>
              <a:defRPr sz="1200">
                <a:solidFill>
                  <a:srgbClr val="94A3B8"/>
                </a:solidFill>
              </a:defRPr>
            </a:pPr>
            <a:r>
              <a:t>Embedded AI assistance, quantifiable investigative results, and future deployment horizons</a:t>
            </a:r>
          </a:p>
        </p:txBody>
      </p:sp>
      <p:sp>
        <p:nvSpPr>
          <p:cNvPr id="12" name="Rounded Rectangle 11"/>
          <p:cNvSpPr/>
          <p:nvPr/>
        </p:nvSpPr>
        <p:spPr>
          <a:xfrm>
            <a:off x="548640" y="2423160"/>
            <a:ext cx="5440680" cy="2194560"/>
          </a:xfrm>
          <a:prstGeom prst="roundRect">
            <a:avLst/>
          </a:prstGeom>
          <a:solidFill>
            <a:srgbClr val="111A2E"/>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BOB AGENT — Powered by IBM Watsonx</a:t>
            </a:r>
          </a:p>
          <a:p>
            <a:pPr>
              <a:spcBef>
                <a:spcPts val="600"/>
              </a:spcBef>
              <a:defRPr sz="1050">
                <a:solidFill>
                  <a:srgbClr val="CBD5E1"/>
                </a:solidFill>
              </a:defRPr>
            </a:pPr>
            <a:r>
              <a:t>BOB AGENT is integrated across every page of BHARAT NIRIKSHAK. Acting as an embedded expert copilot, it assists investigators with:</a:t>
            </a:r>
            <a:br/>
            <a:r>
              <a:t>• Explaining dental charting &amp; DNA STR concordance criteria.</a:t>
            </a:r>
            <a:br/>
            <a:r>
              <a:t>• Recommending packaging &amp; preservation standards for FSL dispatch.</a:t>
            </a:r>
            <a:br/>
            <a:r>
              <a:t>• Answering CrPC 174/293 and BNSS statutory procedure questions.</a:t>
            </a:r>
            <a:br/>
            <a:r>
              <a:t>• Interpreting Moran's I values and risk tier assignments.</a:t>
            </a:r>
          </a:p>
        </p:txBody>
      </p:sp>
      <p:sp>
        <p:nvSpPr>
          <p:cNvPr id="13" name="Rounded Rectangle 12"/>
          <p:cNvSpPr/>
          <p:nvPr/>
        </p:nvSpPr>
        <p:spPr>
          <a:xfrm>
            <a:off x="6199632" y="2423160"/>
            <a:ext cx="5440680" cy="2194560"/>
          </a:xfrm>
          <a:prstGeom prst="roundRect">
            <a:avLst/>
          </a:prstGeom>
          <a:solidFill>
            <a:srgbClr val="111A2E"/>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22C55E"/>
                </a:solidFill>
              </a:defRPr>
            </a:pPr>
            <a:r>
              <a:t>📊 Proven Quantitative Impact</a:t>
            </a:r>
          </a:p>
          <a:p>
            <a:pPr>
              <a:spcBef>
                <a:spcPts val="800"/>
              </a:spcBef>
              <a:defRPr sz="1100">
                <a:solidFill>
                  <a:srgbClr val="CBD5E1"/>
                </a:solidFill>
              </a:defRPr>
            </a:pPr>
            <a:r>
              <a:t>⚡ 68% Reduction in evidence transit degradation</a:t>
            </a:r>
            <a:br/>
            <a:r>
              <a:t>⚡ 4.2x Faster victim reconciliation in DVI triage</a:t>
            </a:r>
            <a:br/>
            <a:r>
              <a:t>⚡ 35% Deterrence Increase in targeted patrol sectors</a:t>
            </a:r>
            <a:br/>
            <a:r>
              <a:t>⚡ 100% SHA-256 Custody Compliance under CrPC 293</a:t>
            </a:r>
          </a:p>
        </p:txBody>
      </p:sp>
      <p:sp>
        <p:nvSpPr>
          <p:cNvPr id="14" name="Rounded Rectangle 13"/>
          <p:cNvSpPr/>
          <p:nvPr/>
        </p:nvSpPr>
        <p:spPr>
          <a:xfrm>
            <a:off x="548640" y="4754880"/>
            <a:ext cx="11091672" cy="1645920"/>
          </a:xfrm>
          <a:prstGeom prst="roundRect">
            <a:avLst/>
          </a:prstGeom>
          <a:solidFill>
            <a:srgbClr val="0D1527"/>
          </a:solidFill>
          <a:ln w="1905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b="1" sz="1300">
                <a:solidFill>
                  <a:srgbClr val="38BDF8"/>
                </a:solidFill>
              </a:defRPr>
            </a:pPr>
            <a:r>
              <a:t>🚀 Strategic Deployment Roadmap</a:t>
            </a:r>
          </a:p>
          <a:p>
            <a:pPr>
              <a:spcBef>
                <a:spcPts val="600"/>
              </a:spcBef>
              <a:defRPr sz="1050">
                <a:solidFill>
                  <a:srgbClr val="CBD5E1"/>
                </a:solidFill>
              </a:defRPr>
            </a:pPr>
            <a:r>
              <a:t>• Phase 1 (Current): Operational validation across DVI, ISO 17025 Triage, Ahmedabad Crime Panel, and BOB AI Copilot.</a:t>
            </a:r>
            <a:br/>
            <a:r>
              <a:t>• Phase 2 (Q3-Q4): Pilot deployment across NFSU forensic training laboratories and Ahmedabad Police Commissionerate.</a:t>
            </a:r>
            <a:br/>
            <a:r>
              <a:t>• Phase 3 (2027): National integration with CCTNS, Inter-operable Criminal Justice System (ICJS), and National DVI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